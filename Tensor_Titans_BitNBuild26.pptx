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828800"/>
            <a:ext cx="2194560" cy="2194560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3FB6F0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1234440"/>
            <a:ext cx="3383280" cy="3383280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3FB6F0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640080"/>
            <a:ext cx="4572000" cy="4572000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3FB6F0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45720"/>
            <a:ext cx="5760720" cy="5760720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3FB6F0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1784" y="2843784"/>
            <a:ext cx="164592" cy="164592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N BUILD '26  ·  GUJARAT ROUND  ·  PS-9 (EXTENDED)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Voice-First Emergency Dispatcher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8F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911, but the operator is an AI agent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hears the caller mid-sentence, sees the map, ranks every resource, dispatches, and escalates. Live.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3FB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◐  DHVANI</a:t>
            </a:r>
            <a:pPr algn="ctr" indent="0" marL="0">
              <a:buNone/>
            </a:pPr>
            <a:r>
              <a:rPr lang="en-US" sz="120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Operator Console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3515258" cy="1143000"/>
          </a:xfrm>
          <a:prstGeom prst="roundRect">
            <a:avLst>
              <a:gd name="adj" fmla="val 112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23951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321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Titans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· Vatsal Mehta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38218" y="5074920"/>
            <a:ext cx="3515258" cy="1143000"/>
          </a:xfrm>
          <a:prstGeom prst="roundRect">
            <a:avLst>
              <a:gd name="adj" fmla="val 112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6818" y="523951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66818" y="55321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 J Institute of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Technology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27797" y="5074920"/>
            <a:ext cx="3515258" cy="1143000"/>
          </a:xfrm>
          <a:prstGeom prst="roundRect">
            <a:avLst>
              <a:gd name="adj" fmla="val 112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6397" y="523951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56397" y="55321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Vatsal Mehta · Kuldeep Yadav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Kalal · Tirth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320040"/>
            <a:ext cx="1280160" cy="12801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-640080"/>
            <a:ext cx="1920240" cy="192024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1005840"/>
            <a:ext cx="2651760" cy="26517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&amp; SOLUTION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766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is a human bottleneck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454335" y="402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364328" cy="3794760"/>
          </a:xfrm>
          <a:prstGeom prst="roundRect">
            <a:avLst>
              <a:gd name="adj" fmla="val 3373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 </a:t>
            </a:r>
            <a:pPr indent="0" marL="0">
              <a:buNone/>
            </a:pPr>
            <a:r>
              <a:rPr lang="en-US" sz="1200" b="1" spc="200" kern="0" dirty="0">
                <a:solidFill>
                  <a:srgbClr val="FF5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77440"/>
            <a:ext cx="48156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 must understand a panicked caller, locate them, pick the right unit and escalate — in seconds.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geo-search and duplicate reports waste scarce units; the nearest truck may already be busy.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or hesitant callers get delayed or dropped — and there's no reliable audit of what happened.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17720"/>
            <a:ext cx="481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USERS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6460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108 control rooms · city emergency services · disaster &amp; industrial safety cells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1737360"/>
            <a:ext cx="5364328" cy="3794760"/>
          </a:xfrm>
          <a:prstGeom prst="roundRect">
            <a:avLst>
              <a:gd name="adj" fmla="val 3373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3048" y="19659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 </a:t>
            </a:r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237744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realtime voice AI dispatcher (Twilio ⇄ OpenAI Realtime) that understands the caller mid-sentence, geolocates the incident, merges duplicates, ranks the nearest capable unit, dispatches it and escalates — every step live on an ops map.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3048" y="4069080"/>
            <a:ext cx="4815688" cy="1234440"/>
          </a:xfrm>
          <a:prstGeom prst="roundRect">
            <a:avLst>
              <a:gd name="adj" fmla="val 7407"/>
            </a:avLst>
          </a:prstGeom>
          <a:solidFill>
            <a:srgbClr val="0A0F1E"/>
          </a:solidFill>
          <a:ln w="15875">
            <a:solidFill>
              <a:srgbClr val="3FB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1648" y="4224528"/>
            <a:ext cx="444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IDEA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81648" y="4480560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dispatches alone. Severity is rule-based, dispatch is code-gated, and uncertain cases go to a human review queue.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320040"/>
            <a:ext cx="1280160" cy="12801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-640080"/>
            <a:ext cx="1920240" cy="192024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1005840"/>
            <a:ext cx="2651760" cy="26517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STACK &amp; ARCHITECTURE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766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proven realtime stack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454335" y="402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014057" cy="1234440"/>
          </a:xfrm>
          <a:prstGeom prst="roundRect">
            <a:avLst>
              <a:gd name="adj" fmla="val 1037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746504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057400"/>
            <a:ext cx="16848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8729" y="1600200"/>
            <a:ext cx="2014057" cy="1234440"/>
          </a:xfrm>
          <a:prstGeom prst="roundRect">
            <a:avLst>
              <a:gd name="adj" fmla="val 1037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3321" y="1746504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983321" y="2057400"/>
            <a:ext cx="16848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8819" y="1600200"/>
            <a:ext cx="2014057" cy="1234440"/>
          </a:xfrm>
          <a:prstGeom prst="roundRect">
            <a:avLst>
              <a:gd name="adj" fmla="val 1037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3411" y="1746504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 · DATA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53411" y="2057400"/>
            <a:ext cx="16848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58908" y="1600200"/>
            <a:ext cx="2014057" cy="1234440"/>
          </a:xfrm>
          <a:prstGeom prst="roundRect">
            <a:avLst>
              <a:gd name="adj" fmla="val 1037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23500" y="1746504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· APIs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23500" y="2057400"/>
            <a:ext cx="16848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· OSRM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28998" y="1600200"/>
            <a:ext cx="2014057" cy="1234440"/>
          </a:xfrm>
          <a:prstGeom prst="roundRect">
            <a:avLst>
              <a:gd name="adj" fmla="val 1037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93590" y="1746504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793590" y="2057400"/>
            <a:ext cx="16848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GSAP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pytest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2057949" cy="822960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5875">
            <a:solidFill>
              <a:srgbClr val="FF5A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566160"/>
            <a:ext cx="20579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PSTN call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15733" y="3977640"/>
            <a:ext cx="182880" cy="0"/>
          </a:xfrm>
          <a:prstGeom prst="line">
            <a:avLst/>
          </a:prstGeom>
          <a:noFill/>
          <a:ln w="22225">
            <a:solidFill>
              <a:srgbClr val="3FB6F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07757" y="3566160"/>
            <a:ext cx="2057949" cy="822960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5875">
            <a:solidFill>
              <a:srgbClr val="3FB6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07757" y="3566160"/>
            <a:ext cx="20579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Stream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74849" y="3977640"/>
            <a:ext cx="182880" cy="0"/>
          </a:xfrm>
          <a:prstGeom prst="line">
            <a:avLst/>
          </a:prstGeom>
          <a:noFill/>
          <a:ln w="22225">
            <a:solidFill>
              <a:srgbClr val="3FB6F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66873" y="3566160"/>
            <a:ext cx="2057949" cy="822960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5875">
            <a:solidFill>
              <a:srgbClr val="3FB6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66873" y="3566160"/>
            <a:ext cx="20579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Realtime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3966" y="3977640"/>
            <a:ext cx="182880" cy="0"/>
          </a:xfrm>
          <a:prstGeom prst="line">
            <a:avLst/>
          </a:prstGeom>
          <a:noFill/>
          <a:ln w="22225">
            <a:solidFill>
              <a:srgbClr val="3FB6F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25990" y="3566160"/>
            <a:ext cx="2057949" cy="822960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25990" y="3566160"/>
            <a:ext cx="20579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Executor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+ audited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393083" y="3977640"/>
            <a:ext cx="182880" cy="0"/>
          </a:xfrm>
          <a:prstGeom prst="line">
            <a:avLst/>
          </a:prstGeom>
          <a:noFill/>
          <a:ln w="22225">
            <a:solidFill>
              <a:srgbClr val="3FB6F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585107" y="3566160"/>
            <a:ext cx="2057949" cy="822960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5875">
            <a:solidFill>
              <a:srgbClr val="4FD1A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85107" y="3566160"/>
            <a:ext cx="20579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Dhvani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 dashboard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54964" y="4407408"/>
            <a:ext cx="0" cy="347472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" y="4773168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477316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SERVICES   </a:t>
            </a:r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 · severity (rules) · duplicate-merge · resource ranking (PostGIS / haversine) · dispatch · escalation ladder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095848" y="5440680"/>
            <a:ext cx="0" cy="256032"/>
          </a:xfrm>
          <a:prstGeom prst="line">
            <a:avLst/>
          </a:prstGeom>
          <a:noFill/>
          <a:ln w="22225">
            <a:solidFill>
              <a:srgbClr val="4FD1A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48640" y="5724144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E1526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5724144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+ AUDIT   </a:t>
            </a:r>
            <a:pPr indent="0" marL="0"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 /  SQLite  ·  17 tables  ·  every tool call &amp; escalation logged  ·  external map lookups cached with graceful fallback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320040"/>
            <a:ext cx="1280160" cy="12801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-640080"/>
            <a:ext cx="1920240" cy="192024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1005840"/>
            <a:ext cx="2651760" cy="26517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 &amp; IMPLEMENTATION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766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first, then live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454335" y="402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4480560" cy="3794760"/>
          </a:xfrm>
          <a:prstGeom prst="roundRect">
            <a:avLst>
              <a:gd name="adj" fmla="val 3373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95728"/>
            <a:ext cx="329184" cy="329184"/>
          </a:xfrm>
          <a:prstGeom prst="ellipse">
            <a:avLst/>
          </a:prstGeom>
          <a:solidFill>
            <a:srgbClr val="3FB6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591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proven realtime call stack — FastAPI + Twilio + OpenAI Realtime.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99232"/>
            <a:ext cx="329184" cy="329184"/>
          </a:xfrm>
          <a:prstGeom prst="ellipse">
            <a:avLst/>
          </a:prstGeom>
          <a:solidFill>
            <a:srgbClr val="3FB6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626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domain: 13 gated AI tools (the PS-9 contract) over a 17-table schema.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602736"/>
            <a:ext cx="329184" cy="329184"/>
          </a:xfrm>
          <a:prstGeom prst="ellipse">
            <a:avLst/>
          </a:prstGeom>
          <a:solidFill>
            <a:srgbClr val="3FB6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safe: rule-based severity, code-gated dispatch, human review queue.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329184" cy="329184"/>
          </a:xfrm>
          <a:prstGeom prst="ellipse">
            <a:avLst/>
          </a:prstGeom>
          <a:solidFill>
            <a:srgbClr val="3FB6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1696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live: WebSocket ops dashboard, fleet simulator, ETA watchdog.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09744"/>
            <a:ext cx="329184" cy="329184"/>
          </a:xfrm>
          <a:prstGeom prst="ellipse">
            <a:avLst/>
          </a:prstGeom>
          <a:solidFill>
            <a:srgbClr val="3FB6F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773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it: 52 offline tests + a demo drill replayer (no paid APIs needed).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719072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TECHNICAL DECISIONS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94960" y="2103120"/>
            <a:ext cx="2986888" cy="1572768"/>
          </a:xfrm>
          <a:prstGeom prst="roundRect">
            <a:avLst>
              <a:gd name="adj" fmla="val 5814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2359152"/>
            <a:ext cx="146304" cy="146304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07024" y="2286000"/>
            <a:ext cx="2255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the LLM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650992" y="2670048"/>
            <a:ext cx="2474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computed from a closed set of facts; the model may nudge it by ±15 max. No hallucinated priority.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56168" y="2103120"/>
            <a:ext cx="2986888" cy="1572768"/>
          </a:xfrm>
          <a:prstGeom prst="roundRect">
            <a:avLst>
              <a:gd name="adj" fmla="val 5814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2200" y="2359152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68232" y="2286000"/>
            <a:ext cx="2255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Code-gated dispatch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912200" y="2670048"/>
            <a:ext cx="2474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assign_resource needs severity + duplicate-check + confirmed location. Rejects once with guidance, then allows.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94960" y="3950208"/>
            <a:ext cx="2986888" cy="1572768"/>
          </a:xfrm>
          <a:prstGeom prst="roundRect">
            <a:avLst>
              <a:gd name="adj" fmla="val 5814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50992" y="4206240"/>
            <a:ext cx="146304" cy="146304"/>
          </a:xfrm>
          <a:prstGeom prst="ellipse">
            <a:avLst/>
          </a:prstGeom>
          <a:solidFill>
            <a:srgbClr val="3FB6F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07024" y="4133088"/>
            <a:ext cx="2255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5650992" y="4517136"/>
            <a:ext cx="2474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FOR UPDATE SKIP LOCKED — two agents can never grab the same unit. Exactly one winner.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56168" y="3950208"/>
            <a:ext cx="2986888" cy="1572768"/>
          </a:xfrm>
          <a:prstGeom prst="roundRect">
            <a:avLst>
              <a:gd name="adj" fmla="val 5814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2200" y="4206240"/>
            <a:ext cx="146304" cy="146304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68232" y="4133088"/>
            <a:ext cx="2255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barge-in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8912200" y="4517136"/>
            <a:ext cx="2474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VAD truncates the reply at the millisecond the caller actually heard, so memory matches reality.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E152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57150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 &amp; TESTING   </a:t>
            </a:r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tested against a scripted fake OpenAI server · Twilio escalation &amp; map APIs mocked · schema-drift guard — 52 tests, all green offline.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320040"/>
            <a:ext cx="1280160" cy="12801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-640080"/>
            <a:ext cx="1920240" cy="192024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1005840"/>
            <a:ext cx="2651760" cy="26517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&amp; ACHIEVEMENTS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766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 today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454335" y="402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75564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40864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TESTS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0824" y="164592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175564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390824" y="2340864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TOOLS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3008" y="175564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233008" y="2340864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TABLES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5191" y="164592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5191" y="1755648"/>
            <a:ext cx="256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2340864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4A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EVENT TYPES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</a:t>
            </a:r>
            <a:pPr indent="0" marL="0">
              <a:buNone/>
            </a:pPr>
            <a:r>
              <a:rPr lang="en-US" sz="1200" b="1" spc="200" kern="0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64408"/>
            <a:ext cx="5410048" cy="658368"/>
          </a:xfrm>
          <a:prstGeom prst="roundRect">
            <a:avLst>
              <a:gd name="adj" fmla="val 125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511296"/>
            <a:ext cx="164592" cy="16459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3264408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voice agent with barge-in &amp; live prompt-swap per department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3008" y="3264408"/>
            <a:ext cx="5410048" cy="658368"/>
          </a:xfrm>
          <a:prstGeom prst="roundRect">
            <a:avLst>
              <a:gd name="adj" fmla="val 125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2464" y="3511296"/>
            <a:ext cx="164592" cy="16459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35928" y="3264408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severity + duplicate detection and incident merge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50792"/>
            <a:ext cx="5410048" cy="658368"/>
          </a:xfrm>
          <a:prstGeom prst="roundRect">
            <a:avLst>
              <a:gd name="adj" fmla="val 125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4297680"/>
            <a:ext cx="164592" cy="16459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4050792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Nearest-capable resource ranking (PostGIS + haversine fallback)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3008" y="4050792"/>
            <a:ext cx="5410048" cy="658368"/>
          </a:xfrm>
          <a:prstGeom prst="roundRect">
            <a:avLst>
              <a:gd name="adj" fmla="val 125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2464" y="4297680"/>
            <a:ext cx="164592" cy="16459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35928" y="4050792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 + approval dispatch mode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837176"/>
            <a:ext cx="5410048" cy="658368"/>
          </a:xfrm>
          <a:prstGeom prst="roundRect">
            <a:avLst>
              <a:gd name="adj" fmla="val 125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" y="5084064"/>
            <a:ext cx="164592" cy="16459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51560" y="4837176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ladder: SMS → on-call → director, fully logged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33008" y="4837176"/>
            <a:ext cx="5410048" cy="658368"/>
          </a:xfrm>
          <a:prstGeom prst="roundRect">
            <a:avLst>
              <a:gd name="adj" fmla="val 12500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2464" y="5084064"/>
            <a:ext cx="164592" cy="16459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35928" y="4837176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 map: sweeps, unit glide, dispatch lines, dossier + audit trail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6967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 PLANNED / FUTURE   </a:t>
            </a:r>
            <a:pPr indent="0" marL="0"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phone-call verification · multi-language intake · call recording · production RBAC &amp; encryption at rest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320040"/>
            <a:ext cx="1280160" cy="12801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-640080"/>
            <a:ext cx="1920240" cy="192024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1005840"/>
            <a:ext cx="2651760" cy="26517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CONTRIBUTIONS &amp; SCREENSHOTS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766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Titans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454335" y="402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20240"/>
            <a:ext cx="475488" cy="475488"/>
          </a:xfrm>
          <a:prstGeom prst="ellipse">
            <a:avLst/>
          </a:prstGeom>
          <a:solidFill>
            <a:srgbClr val="1B2440"/>
          </a:solidFill>
          <a:ln w="19050">
            <a:solidFill>
              <a:srgbClr val="3FB6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Vatsal Mehta   </a:t>
            </a:r>
            <a:pPr indent="0" marL="0">
              <a:buNone/>
            </a:pPr>
            <a:r>
              <a:rPr lang="en-US" sz="950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realtime agent &amp; safety gates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907792"/>
            <a:ext cx="475488" cy="475488"/>
          </a:xfrm>
          <a:prstGeom prst="ellipse">
            <a:avLst/>
          </a:prstGeom>
          <a:solidFill>
            <a:srgbClr val="1B2440"/>
          </a:solidFill>
          <a:ln w="1905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89888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Kuldeep Yadav   </a:t>
            </a:r>
            <a:pPr indent="0" marL="0">
              <a:buNone/>
            </a:pPr>
            <a:r>
              <a:rPr lang="en-US" sz="950" spc="100" kern="0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tools, domain services &amp; database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895344"/>
            <a:ext cx="475488" cy="475488"/>
          </a:xfrm>
          <a:prstGeom prst="ellipse">
            <a:avLst/>
          </a:prstGeom>
          <a:solidFill>
            <a:srgbClr val="1B24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Kalal   </a:t>
            </a:r>
            <a:pPr indent="0" marL="0">
              <a:buNone/>
            </a:pPr>
            <a:r>
              <a:rPr lang="en-US" sz="950" spc="1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4151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Twilio escalation &amp; call flow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00016"/>
            <a:ext cx="4937760" cy="841248"/>
          </a:xfrm>
          <a:prstGeom prst="roundRect">
            <a:avLst>
              <a:gd name="adj" fmla="val 15217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882896"/>
            <a:ext cx="475488" cy="475488"/>
          </a:xfrm>
          <a:prstGeom prst="ellipse">
            <a:avLst/>
          </a:prstGeom>
          <a:solidFill>
            <a:srgbClr val="1B2440"/>
          </a:solidFill>
          <a:ln w="19050">
            <a:solidFill>
              <a:srgbClr val="FF5A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882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4864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Tirth   </a:t>
            </a:r>
            <a:pPr indent="0" marL="0">
              <a:buNone/>
            </a:pPr>
            <a:r>
              <a:rPr lang="en-US" sz="950" spc="100" kern="0" dirty="0">
                <a:solidFill>
                  <a:srgbClr val="FF5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/ QA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138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Dhvani console, UI/UX &amp; testing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52160" y="1737360"/>
            <a:ext cx="5790895" cy="1760220"/>
          </a:xfrm>
          <a:prstGeom prst="roundRect">
            <a:avLst>
              <a:gd name="adj" fmla="val 5195"/>
            </a:avLst>
          </a:prstGeom>
          <a:solidFill>
            <a:srgbClr val="0E1526"/>
          </a:solidFill>
          <a:ln w="15875">
            <a:solidFill>
              <a:srgbClr val="3FB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1938528"/>
            <a:ext cx="118872" cy="118872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0216" y="193852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9672" y="1938528"/>
            <a:ext cx="118872" cy="11887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52160" y="2297430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 REPLACE WITH SCREENSHOT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259918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 — live incident &amp; dispatch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287350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sweep · Live Line · agent-trace tiles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3771900"/>
            <a:ext cx="5790895" cy="1760220"/>
          </a:xfrm>
          <a:prstGeom prst="roundRect">
            <a:avLst>
              <a:gd name="adj" fmla="val 5195"/>
            </a:avLst>
          </a:prstGeom>
          <a:solidFill>
            <a:srgbClr val="0E1526"/>
          </a:solidFill>
          <a:ln w="15875">
            <a:solidFill>
              <a:srgbClr val="3FB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3973068"/>
            <a:ext cx="118872" cy="118872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0216" y="397306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Shape 36"/>
          <p:cNvSpPr/>
          <p:nvPr/>
        </p:nvSpPr>
        <p:spPr>
          <a:xfrm>
            <a:off x="6519672" y="3973068"/>
            <a:ext cx="118872" cy="118872"/>
          </a:xfrm>
          <a:prstGeom prst="ellipse">
            <a:avLst/>
          </a:prstGeom>
          <a:solidFill>
            <a:srgbClr val="4FD1A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52160" y="4331970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 REPLACE WITH SCREENSHOT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463372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dossier — severity, units, audit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490804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gauge · assigned units · tool-call trail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320040"/>
            <a:ext cx="1280160" cy="12801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-640080"/>
            <a:ext cx="1920240" cy="192024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-1005840"/>
            <a:ext cx="2651760" cy="2651760"/>
          </a:xfrm>
          <a:prstGeom prst="ellipse">
            <a:avLst/>
          </a:prstGeom>
          <a:solidFill>
            <a:srgbClr val="0A0F1E">
              <a:alpha val="0"/>
            </a:srgbClr>
          </a:solidFill>
          <a:ln w="9525">
            <a:solidFill>
              <a:srgbClr val="3FB6F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&amp; FUTURE SCOPE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7665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real-world dispatch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454335" y="402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364328" cy="3063240"/>
          </a:xfrm>
          <a:prstGeom prst="roundRect">
            <a:avLst>
              <a:gd name="adj" fmla="val 4179"/>
            </a:avLst>
          </a:prstGeom>
          <a:solidFill>
            <a:srgbClr val="141C31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</a:t>
            </a:r>
            <a:pPr indent="0" marL="0">
              <a:buNone/>
            </a:pPr>
            <a:r>
              <a:rPr lang="en-US" sz="1200" b="1" spc="200" kern="0" dirty="0">
                <a:solidFill>
                  <a:srgbClr val="4FD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95728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D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one operator into many — parallel intake, instant geo + ranking, a complete audit trail.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D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by design: no hallucinated severity, no ungated dispatch, human in the loop.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D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degraded: cached + fallback map data; the SQLite path needs zero infra.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D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real control rooms: 112 / 108, disaster cells, campus &amp; industrial safety.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1737360"/>
            <a:ext cx="5364328" cy="3063240"/>
          </a:xfrm>
          <a:prstGeom prst="roundRect">
            <a:avLst>
              <a:gd name="adj" fmla="val 4179"/>
            </a:avLst>
          </a:prstGeom>
          <a:solidFill>
            <a:srgbClr val="1B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19659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 </a:t>
            </a:r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395728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phone-call verification against OpenAI Realtime + Twilio.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dialect intake for wider reach.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Postgres + PostGIS clustering, horizontal WebSocket fan-out.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RBAC, encryption at rest, retention policy, call recording.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0E1526"/>
          </a:solidFill>
          <a:ln w="15875">
            <a:solidFill>
              <a:srgbClr val="3FB6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1206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 </a:t>
            </a:r>
            <a:pPr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github.com/vedant-kalal/AI_VOICE-FIRST_EMERGENCY_AGENT</a:t>
            </a:r>
            <a:pPr indent="0" marL="0">
              <a:buNone/>
            </a:pPr>
            <a:r>
              <a:rPr lang="en-US" sz="1250" b="1" spc="100" kern="0" dirty="0">
                <a:solidFill>
                  <a:srgbClr val="3FB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LIVE   </a:t>
            </a:r>
            <a:pPr indent="0" marL="0">
              <a:buNone/>
            </a:pPr>
            <a:r>
              <a:rPr lang="en-US" sz="1250" i="1" dirty="0">
                <a:solidFill>
                  <a:srgbClr val="6C7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deployment link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2026-09-20T07:43:54Z</dcterms:created>
  <dcterms:modified xsi:type="dcterms:W3CDTF">2026-09-20T07:43:54Z</dcterms:modified>
</cp:coreProperties>
</file>